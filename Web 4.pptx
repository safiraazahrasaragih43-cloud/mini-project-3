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3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96DCE1"/>
                </a:solidFill>
              </a:defRPr>
            </a:pPr>
            <a:r>
              <a:t>PERTEMUAN 4</a:t>
            </a:r>
          </a:p>
          <a:p>
            <a:pPr>
              <a:spcBef>
                <a:spcPts val="800"/>
              </a:spcBef>
              <a:defRPr sz="4200" b="1">
                <a:solidFill>
                  <a:srgbClr val="FFFFFF"/>
                </a:solidFill>
              </a:defRPr>
            </a:pPr>
            <a:r>
              <a:t>Relational Database</a:t>
            </a:r>
            <a:br/>
            <a:r>
              <a:t>+ Advanced 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CEBF5"/>
                </a:solidFill>
              </a:defRPr>
            </a:pPr>
            <a:r>
              <a:t>Mini Project 3 — Inventory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4243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Dari CRUD menuju aplikasi berbasis relasi, transaksi, laporan, dan business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Mengapa Pertemuan Ini Penting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Database final project mulai memiliki relasi dan aturan bisnis yang nyata.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Mahasiswa tidak lagi hanya membuat CRUD sederhana.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Data produk, kategori, supplier, pengguna, dan transaksi saling berhubungan.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Stok harus konsisten dan tidak boleh menjadi negatif.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Aplikasi mulai membutuhkan pencarian, laporan, session, role, dan keamanan.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Fokus utama: bagaimana data berubah secara benar ketika proses bisnis terjadi.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Pertanyaan kunci: jika barang keluar, apa saja yang harus berubah?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Capaian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Pada akhir pertemuan, mahasiswa mampu: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 menjelaskan relasi one-to-one, one-to-many, dan many-to-many.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 membuat foreign key serta memahami referential integrity.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 menggunakan JOIN, WHERE, LIKE, ORDER BY, GROUP BY, COUNT, SUM, dan AVG.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 menerapkan search, filter, sorting, dan pagination.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 menggunakan session, login, role, dan authorization dasar.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 menerapkan prepared statement, input validation, output encoding, dan password hashing.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 mengembangkan business logic pada Inventory Management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Studi Kasus: 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Sebuah toko ingin mengelola persediaan barang secara terintegrasi.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Mengelola kategori, produk, supplier, dan user.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Mencatat barang masuk dan barang keluar.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Menghitung serta menampilkan stok secara konsisten.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Menampilkan produk dengan stok rendah.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Mencari produk berdasarkan nama atau SKU.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Menyediakan laporan inventory berbasis fungsi agregat.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Membatasi fitur berdasarkan role pengguna.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stok akhir = stok awal + total barang masuk − total barang keluar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Relational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Relasi membantu database menjaga makna dan konsistensi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1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Jenis relasi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Contoh Inventory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Implementasi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One-to-one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users ↔ user_profiles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FK + UNIQUE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One-to-many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categories → products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FK pada tabel anak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01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Many-to-many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products ↔ suppliers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Junction table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751576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2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19201" y="5888736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rPr dirty="0" err="1"/>
              <a:t>Tentukan</a:t>
            </a:r>
            <a:r>
              <a:rPr dirty="0"/>
              <a:t> </a:t>
            </a:r>
            <a:r>
              <a:rPr dirty="0" err="1"/>
              <a:t>relasi</a:t>
            </a:r>
            <a:r>
              <a:rPr dirty="0"/>
              <a:t> </a:t>
            </a:r>
            <a:r>
              <a:rPr dirty="0" err="1"/>
              <a:t>terlebih</a:t>
            </a:r>
            <a:r>
              <a:rPr dirty="0"/>
              <a:t> </a:t>
            </a:r>
            <a:r>
              <a:rPr dirty="0" err="1"/>
              <a:t>dahulu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menulis</a:t>
            </a:r>
            <a:r>
              <a:rPr dirty="0"/>
              <a:t> </a:t>
            </a:r>
            <a:r>
              <a:rPr dirty="0" err="1"/>
              <a:t>halaman</a:t>
            </a:r>
            <a:r>
              <a:rPr dirty="0"/>
              <a:t> CRUD.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One-to-One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Satu data berhubungan dengan tepat satu data lain.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Contoh: satu user memiliki satu profile.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Foreign key pada tabel profile juga diberi UNIQUE.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Cocok untuk memisahkan data login dan data profil.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71800"/>
            <a:ext cx="10789920" cy="224028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136392"/>
            <a:ext cx="10405872" cy="1965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E1EBF2"/>
                </a:solidFill>
                <a:latin typeface="Consolas"/>
              </a:defRPr>
            </a:pPr>
            <a:r>
              <a:t>CREATE TABLE user_profiles (</a:t>
            </a:r>
            <a:br/>
            <a:r>
              <a:t>    id INT PRIMARY KEY AUTO_INCREMENT,</a:t>
            </a:r>
            <a:br/>
            <a:r>
              <a:t>    user_id INT NOT NULL UNIQUE,</a:t>
            </a:r>
            <a:br/>
            <a:r>
              <a:t>    full_name VARCHAR(100) NOT NULL,</a:t>
            </a:r>
            <a:br/>
            <a:r>
              <a:t>    FOREIGN KEY (user_id) REFERENCES users(id)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One-to-Many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Satu kategori dapat memiliki banyak produk.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Tabel induk: categories.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Tabel anak: products.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Foreign key diletakkan pada tabel yang menyimpan banyak data.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Satu product hanya memiliki satu category_id.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10789920" cy="155448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182112"/>
            <a:ext cx="10405872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000">
                <a:solidFill>
                  <a:srgbClr val="E1EBF2"/>
                </a:solidFill>
                <a:latin typeface="Consolas"/>
              </a:defRPr>
            </a:pPr>
            <a:r>
              <a:t>categories 1 ───────── N products</a:t>
            </a:r>
            <a:br/>
            <a:br/>
            <a:r>
              <a:t>products.category_id → categories.id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Many-to-Many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Satu produk dapat memiliki banyak supplier dan sebaliknya.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Relasi many-to-many membutuhkan junction table.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Junction table menyimpan pasangan product_id dan supplier_id.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Gunakan composite primary key agar pasangan tidak duplikat.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10789920" cy="192024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182112"/>
            <a:ext cx="10405872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E1EBF2"/>
                </a:solidFill>
                <a:latin typeface="Consolas"/>
              </a:defRPr>
            </a:pPr>
            <a:r>
              <a:t>CREATE TABLE product_suppliers (</a:t>
            </a:r>
            <a:br/>
            <a:r>
              <a:t>    product_id INT NOT NULL,</a:t>
            </a:r>
            <a:br/>
            <a:r>
              <a:t>    supplier_id INT NOT NULL,</a:t>
            </a:r>
            <a:br/>
            <a:r>
              <a:t>    supplier_price DECIMAL(12,2),</a:t>
            </a:r>
            <a:br/>
            <a:r>
              <a:t>    PRIMARY KEY (product_id, supplier_id)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Foreign Key &amp; Referential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Foreign key menghubungkan tabel sekaligus membatasi data yang tidak valid.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Child record tidak boleh merujuk parent yang tidak ada.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Pilih aturan DELETE dan UPDATE sesuai kebutuhan bisnis.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Untuk histori transaksi, RESTRICT biasanya lebih aman daripada CASCADE.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10789920" cy="182880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227832"/>
            <a:ext cx="10405872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E1EBF2"/>
                </a:solidFill>
                <a:latin typeface="Consolas"/>
              </a:defRPr>
            </a:pPr>
            <a:r>
              <a:t>FOREIGN KEY (category_id)</a:t>
            </a:r>
            <a:br/>
            <a:r>
              <a:t>REFERENCES categories(id)</a:t>
            </a:r>
            <a:br/>
            <a:r>
              <a:t>ON UPDATE CASCADE</a:t>
            </a:r>
            <a:br/>
            <a:r>
              <a:t>ON DELETE RESTRICT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Skema Database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Struktur minimal yang digunakan pada mini project.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10789920" cy="388620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490472"/>
            <a:ext cx="10405872" cy="3611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100">
                <a:solidFill>
                  <a:srgbClr val="E1EBF2"/>
                </a:solidFill>
                <a:latin typeface="Consolas"/>
              </a:defRPr>
            </a:pPr>
            <a:r>
              <a:t>users</a:t>
            </a:r>
            <a:br/>
            <a:r>
              <a:t>  └── stock_movements</a:t>
            </a:r>
            <a:br/>
            <a:br/>
            <a:r>
              <a:t>categories ───&lt; products ───&lt; stock_movements</a:t>
            </a:r>
            <a:br/>
            <a:r>
              <a:t>                     │</a:t>
            </a:r>
            <a:br/>
            <a:r>
              <a:t>                     └──&lt; product_suppliers &gt;─── suppliers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Tanda &lt; menunjukkan relasi one-to-many.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SQL: Tabel Produk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Contoh tabel inti untuk data produk.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789920" cy="438912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99032"/>
            <a:ext cx="10405872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E1EBF2"/>
                </a:solidFill>
                <a:latin typeface="Consolas"/>
              </a:defRPr>
            </a:pPr>
            <a:r>
              <a:t>CREATE TABLE products (</a:t>
            </a:r>
            <a:br/>
            <a:r>
              <a:t>    id INT PRIMARY KEY AUTO_INCREMENT,</a:t>
            </a:r>
            <a:br/>
            <a:r>
              <a:t>    category_id INT NOT NULL,</a:t>
            </a:r>
            <a:br/>
            <a:r>
              <a:t>    sku VARCHAR(50) NOT NULL UNIQUE,</a:t>
            </a:r>
            <a:br/>
            <a:r>
              <a:t>    name VARCHAR(150) NOT NULL,</a:t>
            </a:r>
            <a:br/>
            <a:r>
              <a:t>    price DECIMAL(12,2) NOT NULL,</a:t>
            </a:r>
            <a:br/>
            <a:r>
              <a:t>    stock INT NOT NULL DEFAULT 0,</a:t>
            </a:r>
            <a:br/>
            <a:r>
              <a:t>    minimum_stock INT NOT NULL DEFAULT 5,</a:t>
            </a:r>
            <a:br/>
            <a:r>
              <a:t>    FOREIGN KEY (category_id) REFERENCES categories(id)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Menggabungkan data dari beberapa tabel.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91946"/>
              </p:ext>
            </p:extLst>
          </p:nvPr>
        </p:nvGraphicFramePr>
        <p:xfrm>
          <a:off x="640080" y="1234440"/>
          <a:ext cx="1097280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Jenis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Hasil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INNER JOIN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Hanya data yang </a:t>
                      </a:r>
                      <a:r>
                        <a:rPr dirty="0" err="1"/>
                        <a:t>memiliki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pasangan</a:t>
                      </a:r>
                      <a:r>
                        <a:rPr dirty="0"/>
                        <a:t> di </a:t>
                      </a:r>
                      <a:r>
                        <a:rPr dirty="0" err="1"/>
                        <a:t>kedua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tabel</a:t>
                      </a:r>
                      <a:r>
                        <a:rPr dirty="0"/>
                        <a:t>.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LEFT JOIN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Semua data tabel kiri tetap muncul.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RIGHT JOIN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 err="1"/>
                        <a:t>Semua</a:t>
                      </a:r>
                      <a:r>
                        <a:rPr dirty="0"/>
                        <a:t> data </a:t>
                      </a:r>
                      <a:r>
                        <a:rPr dirty="0" err="1"/>
                        <a:t>tabel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kanan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tetap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muncul</a:t>
                      </a:r>
                      <a:r>
                        <a:rPr dirty="0"/>
                        <a:t>.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4951529"/>
            <a:ext cx="10789920" cy="109728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5088690"/>
            <a:ext cx="10405872" cy="8229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E1EBF2"/>
                </a:solidFill>
                <a:latin typeface="Consolas"/>
              </a:defRPr>
            </a:pPr>
            <a:r>
              <a:t>SELECT p.name, c.name AS category_name</a:t>
            </a:r>
            <a:br/>
            <a:r>
              <a:t>FROM products p</a:t>
            </a:r>
            <a:br/>
            <a:r>
              <a:t>JOIN categories c ON c.id = p.category_id;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&amp;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Filter data berdasarkan kondisi dan pola teks.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10789920" cy="201168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81912"/>
            <a:ext cx="10405872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>
                <a:solidFill>
                  <a:srgbClr val="E1EBF2"/>
                </a:solidFill>
                <a:latin typeface="Consolas"/>
              </a:defRPr>
            </a:pPr>
            <a:r>
              <a:t>SELECT * FROM products</a:t>
            </a:r>
            <a:br/>
            <a:r>
              <a:t>WHERE name LIKE '%keyboard%'</a:t>
            </a:r>
            <a:br/>
            <a:r>
              <a:t>  AND price &gt;= 100000</a:t>
            </a:r>
            <a:br/>
            <a:r>
              <a:t>ORDER BY price DESC;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keyboard% → diawali kata keyboard.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%keyboard → diakhiri kata keyboard.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%keyboard% → mengandung kata keyboard.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GROUP BY &amp; Aggregate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Menghasilkan ringkasan dan laporan dari sekumpulan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586790"/>
              </p:ext>
            </p:extLst>
          </p:nvPr>
        </p:nvGraphicFramePr>
        <p:xfrm>
          <a:off x="548640" y="1234440"/>
          <a:ext cx="11064240" cy="3758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9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954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Fungsi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Kegunaan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54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Menghitung jumlah baris/data.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54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SUM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Menjumlahkan nilai numerik.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546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AVG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 err="1"/>
                        <a:t>Menghitung</a:t>
                      </a:r>
                      <a:r>
                        <a:rPr dirty="0"/>
                        <a:t> rata-rata.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3400" y="5221224"/>
            <a:ext cx="10789920" cy="132588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5197450"/>
            <a:ext cx="10405872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E1EBF2"/>
                </a:solidFill>
                <a:latin typeface="Consolas"/>
              </a:defRPr>
            </a:pPr>
            <a:r>
              <a:t>SELECT c.name, COUNT(p.id) AS total_products,</a:t>
            </a:r>
            <a:br/>
            <a:r>
              <a:t>       SUM(p.stock) AS total_stock,</a:t>
            </a:r>
            <a:br/>
            <a:r>
              <a:t>       AVG(p.price) AS average_price</a:t>
            </a:r>
            <a:br/>
            <a:r>
              <a:t>FROM categories c</a:t>
            </a:r>
            <a:br/>
            <a:r>
              <a:t>LEFT JOIN products p ON p.category_id = c.id</a:t>
            </a:r>
            <a:br/>
            <a:r>
              <a:t>GROUP BY c.id, c.name;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vs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Keduanya memfilter, tetapi pada tahap yang berbeda.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3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Klausa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Dipakai untuk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Contoh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WHERE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Filter baris sebelum GROUP BY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price &gt;= 100000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3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HAVING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Filter hasil setelah GROUP BY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COUNT(*) &gt;= 3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Gunakan HAVING untuk kondisi yang melibatkan fungsi agregat.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Search, Filter, Sorting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Listing produk harus mudah digunakan dan tetap aman.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Search: nama produk atau SKU.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Filter: category_id.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Sorting: nama, harga, atau stok.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Direction: ASC atau DESC.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Kolom sorting harus dipilih dari allowlist, bukan input mentah.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Nilai parameter dapat dibind; nama kolom harus divalidasi secara eksplisit.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Pagination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Membatasi jumlah data yang ditampilkan per halaman.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10789920" cy="237744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36192"/>
            <a:ext cx="10405872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E1EBF2"/>
                </a:solidFill>
                <a:latin typeface="Consolas"/>
              </a:defRPr>
            </a:pPr>
            <a:r>
              <a:t>$page = max(1, (int) ($_GET['page'] ?? 1));</a:t>
            </a:r>
            <a:br/>
            <a:r>
              <a:t>$perPage = 10;</a:t>
            </a:r>
            <a:br/>
            <a:r>
              <a:t>$offset = ($page - 1) * $perPage;</a:t>
            </a:r>
            <a:br/>
            <a:br/>
            <a:r>
              <a:t>SELECT ...</a:t>
            </a:r>
            <a:br/>
            <a:r>
              <a:t>LIMIT :limit OFFSET :offset;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offset = (page − 1) × data per halaman.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total_page = ceiling(total data ÷ data per halaman).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Pertahankan parameter search, filter, dan sorting saat berpindah halaman.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PDO &amp; Prepared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Pisahkan struktur query dari nilai input pengguna.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10789920" cy="310896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490472"/>
            <a:ext cx="10405872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E1EBF2"/>
                </a:solidFill>
                <a:latin typeface="Consolas"/>
              </a:defRPr>
            </a:pPr>
            <a:r>
              <a:t>$stmt = $pdo-&gt;prepare(</a:t>
            </a:r>
            <a:br/>
            <a:r>
              <a:t>    'SELECT * FROM users WHERE username = :username'</a:t>
            </a:r>
            <a:br/>
            <a:r>
              <a:t>);</a:t>
            </a:r>
            <a:br/>
            <a:br/>
            <a:r>
              <a:t>$stmt-&gt;execute([</a:t>
            </a:r>
            <a:br/>
            <a:r>
              <a:t>    'username' =&gt; $_POST['username']</a:t>
            </a:r>
            <a:br/>
            <a:r>
              <a:t>]);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26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Prepared statement adalah pertahanan utama terhadap SQL Injection.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SQL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Terjadi ketika input pengguna digabungkan langsung ke query SQL.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10789920" cy="315468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36192"/>
            <a:ext cx="10405872" cy="2880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E1EBF2"/>
                </a:solidFill>
                <a:latin typeface="Consolas"/>
              </a:defRPr>
            </a:pPr>
            <a:r>
              <a:t>// TIDAK AMAN</a:t>
            </a:r>
            <a:br/>
            <a:r>
              <a:t>$sql = "SELECT * FROM users WHERE username = '$username'";</a:t>
            </a:r>
            <a:br/>
            <a:br/>
            <a:r>
              <a:t>// LEBIH AMAN</a:t>
            </a:r>
            <a:br/>
            <a:r>
              <a:t>$stmt = $pdo-&gt;prepare(</a:t>
            </a:r>
            <a:br/>
            <a:r>
              <a:t>    'SELECT * FROM users WHERE username = :username'</a:t>
            </a:r>
            <a:br/>
            <a: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Jangan gunakan concatenation untuk nilai input.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Gunakan prepared statement.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Tambahkan validasi server-side.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XSS &amp; Output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Data dari user harus dianggap tidak tepercaya ketika ditampilkan.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10789920" cy="292608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81912"/>
            <a:ext cx="10405872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E1EBF2"/>
                </a:solidFill>
                <a:latin typeface="Consolas"/>
              </a:defRPr>
            </a:pPr>
            <a:r>
              <a:t>// TIDAK AMAN</a:t>
            </a:r>
            <a:br/>
            <a:r>
              <a:t>echo $product['name'];</a:t>
            </a:r>
            <a:br/>
            <a:br/>
            <a:r>
              <a:t>// AMAN UNTUK HTML</a:t>
            </a:r>
            <a:br/>
            <a:r>
              <a:t>echo htmlspecialchars(</a:t>
            </a:r>
            <a:br/>
            <a:r>
              <a:t>    $product['name'], ENT_QUOTES, 'UTF-8'</a:t>
            </a:r>
            <a:br/>
            <a:r>
              <a:t>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Validasi input tidak menggantikan output encoding.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Input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Validasi format dan makna bisnis dilakukan di server.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10789920" cy="310896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36192"/>
            <a:ext cx="10405872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E1EBF2"/>
                </a:solidFill>
                <a:latin typeface="Consolas"/>
              </a:defRPr>
            </a:pPr>
            <a:r>
              <a:t>$quantity = filter_input(</a:t>
            </a:r>
            <a:br/>
            <a:r>
              <a:t>    INPUT_POST, 'quantity', FILTER_VALIDATE_INT</a:t>
            </a:r>
            <a:br/>
            <a:r>
              <a:t>);</a:t>
            </a:r>
            <a:br/>
            <a:br/>
            <a:r>
              <a:t>if ($quantity === false || $quantity &lt;= 0) {</a:t>
            </a:r>
            <a:br/>
            <a:r>
              <a:t>    $errors[] = 'Jumlah harus lebih dari nol.';</a:t>
            </a:r>
            <a:br/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Syntactic validation: tipe, format, panjang.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Semantic validation: stok cukup, produk ada, harga tidak negatif.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Session, Authentication,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Login menjawab siapa pengguna; authorization menjawab apa yang boleh dilakukan.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0644"/>
              </p:ext>
            </p:extLst>
          </p:nvPr>
        </p:nvGraphicFramePr>
        <p:xfrm>
          <a:off x="640080" y="1234440"/>
          <a:ext cx="10972800" cy="4016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4013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Konsep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Contoh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4013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Authentication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Username dan password valid.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4013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Session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Menyimpan user yang sedang login.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4013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Authorization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Admin </a:t>
                      </a:r>
                      <a:r>
                        <a:rPr dirty="0" err="1"/>
                        <a:t>boleh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mengelola</a:t>
                      </a:r>
                      <a:r>
                        <a:rPr dirty="0"/>
                        <a:t> user; staff </a:t>
                      </a:r>
                      <a:r>
                        <a:rPr dirty="0" err="1"/>
                        <a:t>tidak</a:t>
                      </a:r>
                      <a:r>
                        <a:rPr dirty="0"/>
                        <a:t>.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7049" y="5473598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2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2000" y="5689396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Setelah login: session_regenerate_id(true).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Login dengan Password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Password tidak boleh disimpan sebagai teks biasa.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10789920" cy="425196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99032"/>
            <a:ext cx="10405872" cy="3977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E1EBF2"/>
                </a:solidFill>
                <a:latin typeface="Consolas"/>
              </a:defRPr>
            </a:pPr>
            <a:r>
              <a:t>$user = $stmt-&gt;fetch(PDO::FETCH_ASSOC);</a:t>
            </a:r>
            <a:br/>
            <a:br/>
            <a:r>
              <a:t>if ($user &amp;&amp; password_verify(</a:t>
            </a:r>
            <a:br/>
            <a:r>
              <a:t>    $_POST['password'], $user['password_hash']</a:t>
            </a:r>
            <a:br/>
            <a:r>
              <a:t>)) {</a:t>
            </a:r>
            <a:br/>
            <a:r>
              <a:t>    session_regenerate_id(true);</a:t>
            </a:r>
            <a:br/>
            <a:r>
              <a:t>    $_SESSION['user'] = [</a:t>
            </a:r>
            <a:br/>
            <a:r>
              <a:t>        'id' =&gt; $user['id'], 'role' =&gt; $user['role']</a:t>
            </a:r>
            <a:br/>
            <a:r>
              <a:t>    ];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Basic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Hak akses diterapkan pada server, bukan hanya disembunyikan dari menu.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508354"/>
              </p:ext>
            </p:extLst>
          </p:nvPr>
        </p:nvGraphicFramePr>
        <p:xfrm>
          <a:off x="640080" y="1234440"/>
          <a:ext cx="10972800" cy="3696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400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Hak akses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001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Admin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User, kategori, produk, supplier, transaksi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001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Staff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Melihat produk dan mencatat transaksi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4001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Guest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Halaman </a:t>
                      </a:r>
                      <a:r>
                        <a:rPr dirty="0" err="1"/>
                        <a:t>publik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saja</a:t>
                      </a:r>
                      <a:endParaRPr dirty="0"/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257800"/>
            <a:ext cx="10789920" cy="114300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" y="5500116"/>
            <a:ext cx="10405872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E1EBF2"/>
                </a:solidFill>
                <a:latin typeface="Consolas"/>
              </a:defRPr>
            </a:pPr>
            <a:r>
              <a:rPr dirty="0"/>
              <a:t>if ($_SESSION['user']['role'] !== 'admin') {</a:t>
            </a:r>
            <a:br>
              <a:rPr dirty="0"/>
            </a:br>
            <a:r>
              <a:rPr dirty="0"/>
              <a:t>    </a:t>
            </a:r>
            <a:r>
              <a:rPr dirty="0" err="1"/>
              <a:t>http_response_code</a:t>
            </a:r>
            <a:r>
              <a:rPr dirty="0"/>
              <a:t>(403);</a:t>
            </a:r>
            <a:br>
              <a:rPr dirty="0"/>
            </a:br>
            <a:r>
              <a:rPr dirty="0"/>
              <a:t>    exit('Forbidden');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Logic: Barang Masuk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Satu proses bisnis dapat mengubah lebih dari satu tabel.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Validasi product_id dan quantity.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Tambah stok produk.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Catat histori stock_movements.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Simpan user yang melakukan transaksi.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Gunakan database transaction agar proses konsisten.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26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Semua berhasil bersama-sama atau semuanya dibatalkan.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Logic: Barang Keluar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Barang keluar tidak boleh melebihi stok tersedia.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10789920" cy="393192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36192"/>
            <a:ext cx="10405872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>
                <a:solidFill>
                  <a:srgbClr val="E1EBF2"/>
                </a:solidFill>
                <a:latin typeface="Consolas"/>
              </a:defRPr>
            </a:pPr>
            <a:r>
              <a:t>BEGIN TRANSACTION</a:t>
            </a:r>
            <a:br/>
            <a:br/>
            <a:r>
              <a:t>1. SELECT stock ... FOR UPDATE</a:t>
            </a:r>
            <a:br/>
            <a:r>
              <a:t>2. Validasi quantity &lt;= stock</a:t>
            </a:r>
            <a:br/>
            <a:r>
              <a:t>3. UPDATE products SET stock = stock - quantity</a:t>
            </a:r>
            <a:br/>
            <a:r>
              <a:t>4. INSERT stock_movements (type = 'OUT')</a:t>
            </a:r>
            <a:br/>
            <a:br/>
            <a:r>
              <a:t>COMMIT / ROLLBACK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Database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Mencegah stok berubah tanpa histori atau sebaliknya.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10789920" cy="324612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536192"/>
            <a:ext cx="10405872" cy="2971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900">
                <a:solidFill>
                  <a:srgbClr val="E1EBF2"/>
                </a:solidFill>
                <a:latin typeface="Consolas"/>
              </a:defRPr>
            </a:pPr>
            <a:r>
              <a:t>$pdo-&gt;beginTransaction();</a:t>
            </a:r>
            <a:br/>
            <a:r>
              <a:t>try {</a:t>
            </a:r>
            <a:br/>
            <a:r>
              <a:t>    // update stok</a:t>
            </a:r>
            <a:br/>
            <a:r>
              <a:t>    // insert histori</a:t>
            </a:r>
            <a:br/>
            <a:r>
              <a:t>    $pdo-&gt;commit();</a:t>
            </a:r>
            <a:br/>
            <a:r>
              <a:t>} catch (Throwable $e) {</a:t>
            </a:r>
            <a:br/>
            <a:r>
              <a:t>    $pdo-&gt;rollBack();</a:t>
            </a:r>
            <a:br/>
            <a:r>
              <a:t>    throw $e;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Contoh kegagalan yang harus dicegah: stok berkurang, tetapi histori gagal disimpan.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Contoh Laporan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Aggregate query membantu aplikasi menjawab pertanyaan bisnis.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188720"/>
            <a:ext cx="10789920" cy="434340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53312"/>
            <a:ext cx="10405872" cy="4069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E1EBF2"/>
                </a:solidFill>
                <a:latin typeface="Consolas"/>
              </a:defRPr>
            </a:pPr>
            <a:r>
              <a:t>SELECT p.sku, p.name,</a:t>
            </a:r>
            <a:br/>
            <a:r>
              <a:t>  SUM(CASE WHEN sm.type='IN'</a:t>
            </a:r>
            <a:br/>
            <a:r>
              <a:t>      THEN sm.quantity ELSE 0 END) AS total_in,</a:t>
            </a:r>
            <a:br/>
            <a:r>
              <a:t>  SUM(CASE WHEN sm.type='OUT'</a:t>
            </a:r>
            <a:br/>
            <a:r>
              <a:t>      THEN sm.quantity ELSE 0 END) AS total_out</a:t>
            </a:r>
            <a:br/>
            <a:r>
              <a:t>FROM products p</a:t>
            </a:r>
            <a:br/>
            <a:r>
              <a:t>LEFT JOIN stock_movements sm ON sm.product_id = p.id</a:t>
            </a:r>
            <a:br/>
            <a:r>
              <a:t>GROUP BY p.id, p.sku, p.name;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Dashboard yang Diharapkan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Informasi ringkas untuk membantu pengambilan keputusan.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Widget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Sumber data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Total produk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COUNT(products.id)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Nilai inventory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SUM(stock × price)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Produk stok rendah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stock &lt;= minimum_stock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Barang masuk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SUM(quantity) WHERE type = IN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Barang keluar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SUM(quantity) WHERE type = OUT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Rangkaian Aktivitas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Kombinasikan konsep, praktik, dan pengembangan mini project.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Waktu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Aktivitas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15 menit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Apersepsi: mengapa CRUD tidak cukup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30 menit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Relasi, ERD, dan foreign key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30 menit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JOIN, filter, sorting, aggregate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30 menit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Search dan pagination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30 menit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Session, role, dan security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45–60 menit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Pengerjaan Mini Project 3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Latihan Terpandu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Kerjakan bertahap sebelum menggabungkan semuanya.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Latihan 1 — Buat tabel dan uji foreign key.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Latihan 2 — Buat query laporan kategori dan stok.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Latihan 3 — Tambahkan search, filter, sorting, pagination.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Latihan 4 — Uji SQL Injection dan XSS secara aman.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Latihan 5 — Implementasikan transaksi barang masuk dan keluar.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Mini Project 3: Fitur Wajib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Inventory Management System harus mencakup: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Authentication: login, logout, password hashing.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Authorization: role admin dan staff.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Master data: kategori, produk, supplier.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Many-to-many: produk dan supplier.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Transaksi: barang masuk, barang keluar, histori.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Listing: search, filter, sorting, pagination.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Dashboard: statistik dan laporan inventory.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Security: prepared statement, validation, escaping.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Aturan ini wajib diterapkan di aplikasi.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SKU harus unik.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Harga dan quantity tidak boleh negatif.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Barang keluar tidak boleh melebihi stok.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Stok tidak boleh menjadi negatif.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Produk yang memiliki histori tidak boleh dihapus sembarangan.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Halaman internal membutuhkan login.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Staff tidak boleh mengakses administrasi user.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Sorting hanya menggunakan kolom yang diizinkan.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Struktur Folder yang Disarankan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Pisahkan konfigurasi, helper, view, dan halaman fitur.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80160"/>
            <a:ext cx="10789920" cy="4206240"/>
          </a:xfrm>
          <a:prstGeom prst="roundRect">
            <a:avLst/>
          </a:prstGeom>
          <a:solidFill>
            <a:srgbClr val="1C222B"/>
          </a:solidFill>
          <a:ln>
            <a:solidFill>
              <a:srgbClr val="3C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444751"/>
            <a:ext cx="10405872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>
                <a:solidFill>
                  <a:srgbClr val="E1EBF2"/>
                </a:solidFill>
                <a:latin typeface="Consolas"/>
              </a:defRPr>
            </a:pPr>
            <a:r>
              <a:t>inventory-app/</a:t>
            </a:r>
            <a:br/>
            <a:r>
              <a:t>├── config/database.php</a:t>
            </a:r>
            <a:br/>
            <a:r>
              <a:t>├── helpers/auth.php</a:t>
            </a:r>
            <a:br/>
            <a:r>
              <a:t>├── helpers/validation.php</a:t>
            </a:r>
            <a:br/>
            <a:r>
              <a:t>├── helpers/escape.php</a:t>
            </a:r>
            <a:br/>
            <a:r>
              <a:t>├── public/login.php</a:t>
            </a:r>
            <a:br/>
            <a:r>
              <a:t>├── public/dashboard.php</a:t>
            </a:r>
            <a:br/>
            <a:r>
              <a:t>├── public/products/</a:t>
            </a:r>
            <a:br/>
            <a:r>
              <a:t>├── public/stock/</a:t>
            </a:r>
            <a:br/>
            <a:r>
              <a:t>├── views/header.php</a:t>
            </a:r>
            <a:br/>
            <a:r>
              <a:t>└── database/schema.sql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Rubrik Penilaian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Gunakan rubrik berikut untuk evaluasi hasil.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3444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Komponen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Bobot</a:t>
                      </a:r>
                    </a:p>
                  </a:txBody>
                  <a:tcPr marL="73152" marR="54864" marT="36576" marB="36576">
                    <a:solidFill>
                      <a:srgbClr val="12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Desain database dan relasi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Foreign key dan integritas data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CRUD master data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Transaksi masuk/keluar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20%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Search, filter, sorting, pagination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Login, session, authorization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10%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Keamanan aplikasi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15%</a:t>
                      </a:r>
                    </a:p>
                  </a:txBody>
                  <a:tcPr marL="73152" marR="54864" marT="36576" marB="36576">
                    <a:solidFill>
                      <a:srgbClr val="F1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Kerapian dan presentasi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5%</a:t>
                      </a:r>
                    </a:p>
                  </a:txBody>
                  <a:tcPr marL="73152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Checklist Pengumpulan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Pastikan seluruh fungsi inti sudah diuji.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Relasi dan foreign key berjalan.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SKU unik dan validasi server aktif.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Login, logout, session, dan role berjalan.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Tidak ada query concatenation dari input user.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Output HTML menggunakan escaping.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Search, filter, sorting, pagination berjalan.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Stok tidak negatif dan histori tersimpan.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Transaksi menggunakan commit/rollback.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t>[ ] Dashboard menampilkan laporan agregat.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Inti Pertemuan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Database relasional adalah fondasi aplikasi bisnis.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Relasi menjaga struktur data tetap bermakna.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Foreign key menjaga integritas antar-tabel.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JOIN dan aggregate menghasilkan informasi bisnis.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Session dan authorization mengatur akses pengguna.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Prepared statement, validation, dan escaping mengurangi risiko keamanan.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Transaction menjaga perubahan stok dan histori tetap konsisten.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Business logic membedakan aplikasi inventory dari CRUD biasa.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Tujuan akhir: mahasiswa mampu membangun aplikasi yang datanya benar, prosesnya konsisten, dan aksesnya aman.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Tugas Pertemuan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155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ED7F0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3"/>
                </a:solidFill>
              </a:defRPr>
            </a:pPr>
            <a:r>
              <a:t>Mulai implementasi Mini Project 3.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7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3"/>
                </a:solidFill>
              </a:defRPr>
            </a:pPr>
            <a:r>
              <a:t>Pertemuan 4 • Relational Database + Advanced 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</a:defRPr>
            </a:pPr>
            <a: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48920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Buat ERD dan schema.sql.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Implementasikan login dan role admin/staff.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Buat modul kategori dan produk.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Tambahkan search, filter, sorting, dan pagination.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Implementasikan barang masuk dan barang keluar dengan transaction.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Tambahkan dashboard sederhana.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Uji minimal satu kasus validation error dan satu kasus akses terlarang.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0698480" cy="685800"/>
          </a:xfrm>
          <a:prstGeom prst="roundRect">
            <a:avLst/>
          </a:prstGeom>
          <a:solidFill>
            <a:srgbClr val="E6F7F7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367528"/>
            <a:ext cx="103327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A4C"/>
                </a:solidFill>
              </a:defRPr>
            </a:pPr>
            <a:r>
              <a:t>Deliverable: source code, schema SQL, screenshot fitur, dan penjelasan business rule.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3082</Words>
  <Application>Microsoft Macintosh PowerPoint</Application>
  <PresentationFormat>Widescreen</PresentationFormat>
  <Paragraphs>416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Ikhwani</cp:lastModifiedBy>
  <cp:revision>2</cp:revision>
  <dcterms:created xsi:type="dcterms:W3CDTF">2013-01-27T09:14:16Z</dcterms:created>
  <dcterms:modified xsi:type="dcterms:W3CDTF">2026-10-06T01:17:01Z</dcterms:modified>
  <cp:category/>
</cp:coreProperties>
</file>